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W0XrxbHldEunaEWuzKHYWVK4T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AE0FBE-23B1-4292-94FC-1C0EC8281042}">
  <a:tblStyle styleId="{13AE0FBE-23B1-4292-94FC-1C0EC828104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F0F6FC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0F6FC"/>
                </a:solidFill>
                <a:latin typeface="Arial"/>
              </a:rPr>
              <a:t>Confidence vs. Attack Intensity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Substitution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5%</c:v>
                </c:pt>
                <c:pt idx="1">
                  <c:v>10%</c:v>
                </c:pt>
                <c:pt idx="2">
                  <c:v>20%</c:v>
                </c:pt>
                <c:pt idx="3">
                  <c:v>30%</c:v>
                </c:pt>
                <c:pt idx="4">
                  <c:v>50%</c:v>
                </c:pt>
                <c:pt idx="5">
                  <c:v>70%</c:v>
                </c:pt>
                <c:pt idx="6">
                  <c:v>100%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0.28899999999999998</c:v>
                </c:pt>
                <c:pt idx="1">
                  <c:v>0.28899999999999998</c:v>
                </c:pt>
                <c:pt idx="2">
                  <c:v>0.28899999999999998</c:v>
                </c:pt>
                <c:pt idx="3">
                  <c:v>0.27800000000000002</c:v>
                </c:pt>
                <c:pt idx="4">
                  <c:v>0.24299999999999999</c:v>
                </c:pt>
                <c:pt idx="5">
                  <c:v>0.218</c:v>
                </c:pt>
                <c:pt idx="6">
                  <c:v>0.17799999999999999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2F8-4571-B955-2067A0AD85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Truncation</c:v>
                </c:pt>
              </c:strCache>
            </c:strRef>
          </c:tx>
          <c:spPr>
            <a:ln w="31750" cap="flat">
              <a:solidFill>
                <a:srgbClr val="00D4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10%</c:v>
                </c:pt>
                <c:pt idx="1">
                  <c:v>20%</c:v>
                </c:pt>
                <c:pt idx="2">
                  <c:v>30%</c:v>
                </c:pt>
                <c:pt idx="3">
                  <c:v>40%</c:v>
                </c:pt>
                <c:pt idx="4">
                  <c:v>50%</c:v>
                </c:pt>
                <c:pt idx="5">
                  <c:v>60%</c:v>
                </c:pt>
                <c:pt idx="6">
                  <c:v>70%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0.25800000000000001</c:v>
                </c:pt>
                <c:pt idx="1">
                  <c:v>0.25800000000000001</c:v>
                </c:pt>
                <c:pt idx="2">
                  <c:v>0.25800000000000001</c:v>
                </c:pt>
                <c:pt idx="3">
                  <c:v>0.25800000000000001</c:v>
                </c:pt>
                <c:pt idx="4">
                  <c:v>0.20899999999999999</c:v>
                </c:pt>
                <c:pt idx="5">
                  <c:v>0.20899999999999999</c:v>
                </c:pt>
                <c:pt idx="6">
                  <c:v>0.157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2F8-4571-B955-2067A0AD85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Paraphrase</c:v>
                </c:pt>
              </c:strCache>
            </c:strRef>
          </c:tx>
          <c:spPr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10%</c:v>
                </c:pt>
                <c:pt idx="1">
                  <c:v>20%</c:v>
                </c:pt>
                <c:pt idx="2">
                  <c:v>30%</c:v>
                </c:pt>
                <c:pt idx="3">
                  <c:v>40%</c:v>
                </c:pt>
                <c:pt idx="4">
                  <c:v>50%</c:v>
                </c:pt>
                <c:pt idx="5">
                  <c:v>60%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0.29099999999999998</c:v>
                </c:pt>
                <c:pt idx="1">
                  <c:v>0.29099999999999998</c:v>
                </c:pt>
                <c:pt idx="2">
                  <c:v>0.28100000000000003</c:v>
                </c:pt>
                <c:pt idx="3">
                  <c:v>0.25800000000000001</c:v>
                </c:pt>
                <c:pt idx="4">
                  <c:v>0.24299999999999999</c:v>
                </c:pt>
                <c:pt idx="5">
                  <c:v>0.222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2F8-4571-B955-2067A0AD85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1E2A3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F0F6FC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0F6FC"/>
                </a:solidFill>
                <a:latin typeface="Arial"/>
              </a:rPr>
              <a:t>Semantic Preservation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Semantic Preservation @ 30%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AE6-4C42-B2DB-049E4C0F12AE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5AE6-4C42-B2DB-049E4C0F12AE}"/>
              </c:ext>
            </c:extLst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5AE6-4C42-B2DB-049E4C0F12AE}"/>
              </c:ext>
            </c:extLst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5AE6-4C42-B2DB-049E4C0F12A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0F6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ZW Strip</c:v>
                </c:pt>
                <c:pt idx="1">
                  <c:v>Substitution</c:v>
                </c:pt>
                <c:pt idx="2">
                  <c:v>Truncation</c:v>
                </c:pt>
                <c:pt idx="3">
                  <c:v>Paraphrase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99.4</c:v>
                </c:pt>
                <c:pt idx="2">
                  <c:v>84.8</c:v>
                </c:pt>
                <c:pt idx="3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AE6-4C42-B2DB-049E4C0F12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A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 (30s): State your name, course, topic. One line pitch: 'AI-generated text is everywhere — we built a cryptographic system to prove a document was signed with a secret key, and then tried to break it four different ways.'</a:t>
            </a:r>
            <a:endParaRPr/>
          </a:p>
        </p:txBody>
      </p:sp>
      <p:sp>
        <p:nvSpPr>
          <p:cNvPr id="12" name="Google Shape;1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(1 min): Hit the three stats hard. Pause on '1 line of code' — that's the tension in this paper. HMAC solves the second problem (proof), but steganography alone is fragile. That tension is your thesis.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RELATED WORK (1.5 min): Don't read every paper. Group them: (1) BERT shows why the problem is hard. (2) Kirchenbauer/Zhao show prior watermarking work needs LLM access — we don't. (3) Bellare is our crypto foundation. Move quickly.</a:t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ARCHITECTURE (2 min): Explain the 3 layers clearly. KEY POINT: Layer 1 (HMAC) is cryptographically strong but requires the original. Layer 2 (stego) is detectable without the original but fragile. The combination is stronger than either alone. Spend 1 min on the formula — explain the weights.</a:t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EMBEDDING (1.5 min): Walk through the 4 steps. Pause on the visual — show them that the two lines of text look identical. The punchline: 65 invisible characters are hiding between the words right now, and nobody can see them.</a:t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ATTACKS (1.5 min): Don't go into code. Just explain what each attack does and what the result was. The pattern to highlight: ALL attacks destroy the stego layer, but NONE can fool the HMAC without changing visible content — and changing content costs semantic similarity.</a:t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ATTACKS (1.5 min): Don't go into code. Just explain what each attack does and what the result was. The pattern to highlight: ALL attacks destroy the stego layer, but NONE can fool the HMAC without changing visible content — and changing content costs semantic similarity.</a:t>
            </a:r>
            <a:endParaRPr/>
          </a:p>
        </p:txBody>
      </p:sp>
      <p:sp>
        <p:nvSpPr>
          <p:cNvPr id="200" name="Google Shape;20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ATTACKS (1.5 min): Don't go into code. Just explain what each attack does and what the result was. The pattern to highlight: ALL attacks destroy the stego layer, but NONE can fool the HMAC without changing visible content — and changing content costs semantic similarity.</a:t>
            </a:r>
            <a:endParaRPr/>
          </a:p>
        </p:txBody>
      </p:sp>
      <p:sp>
        <p:nvSpPr>
          <p:cNvPr id="248" name="Google Shape;24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TABLE (1 min): Point to the pattern — every attack kills Layer 2 (stego). Only ZW strip keeps sentences intact (0.7000). Content attacks drop to ~0.30 but the text remains readable. That tradeoff IS the paper.</a:t>
            </a:r>
            <a:endParaRPr/>
          </a:p>
        </p:txBody>
      </p:sp>
      <p:sp>
        <p:nvSpPr>
          <p:cNvPr id="293" name="Google Shape;29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TABLE (1 min): Point to the pattern — every attack kills Layer 2 (stego). Only ZW strip keeps sentences intact (0.7000). Content attacks drop to ~0.30 but the text remains readable. That tradeoff IS the paper.</a:t>
            </a:r>
            <a:endParaRPr/>
          </a:p>
        </p:txBody>
      </p:sp>
      <p:sp>
        <p:nvSpPr>
          <p:cNvPr id="305" name="Google Shape;30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 (30s): Briefly point to the left chart — confidence decays as attack intensity grows. Right chart shows ZW strip is uniquely high (0.70) because it doesn't change content. Move quickly to findings.</a:t>
            </a:r>
            <a:endParaRPr/>
          </a:p>
        </p:txBody>
      </p:sp>
      <p:sp>
        <p:nvSpPr>
          <p:cNvPr id="335" name="Google Shape;33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 (30s): Briefly point to the left chart — confidence decays as attack intensity grows. Right chart shows ZW strip is uniquely high (0.70) because it doesn't change content. Move quickly to findings.</a:t>
            </a:r>
            <a:endParaRPr/>
          </a:p>
        </p:txBody>
      </p:sp>
      <p:sp>
        <p:nvSpPr>
          <p:cNvPr id="348" name="Google Shape;34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FINDINGS (1.25 min): Left column — hit the 5 wins confidently. Right column — don't apologize for limitations, frame them as future work. The non-repudiation point is a good segue to the RSA future work on the next slide.</a:t>
            </a:r>
            <a:endParaRPr/>
          </a:p>
        </p:txBody>
      </p:sp>
      <p:sp>
        <p:nvSpPr>
          <p:cNvPr id="373" name="Google Shape;37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 (45s): Restate the thesis in one sentence: 'Steganography hides the signature; HMAC proves the content — combined they create a two-signal attribution system that degrades gracefully under attack.' End with the future work cards briefly, then open for Q&amp;A.</a:t>
            </a:r>
            <a:endParaRPr/>
          </a:p>
        </p:txBody>
      </p:sp>
      <p:sp>
        <p:nvSpPr>
          <p:cNvPr id="389" name="Google Shape;38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65760" y="1463040"/>
            <a:ext cx="54864" cy="21945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40080" y="1188720"/>
            <a:ext cx="6858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Cryptographic Watermarking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of AI-Generated Text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28346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HMAC-SHA256 · Steganographic Embedding · Multi-Layer Verification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33832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CSC 8224 — Cryptography  |  Georgia State University  |  Spring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Nik C. | Adedamola 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4297680"/>
            <a:ext cx="2286000" cy="3200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42976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IMPLEMENTATION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00400" y="4297680"/>
            <a:ext cx="2286000" cy="3200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200400" y="42976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SECURITY ANALYSIS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760720" y="4297680"/>
            <a:ext cx="2286000" cy="3200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760720" y="42976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ATTACK RESEARCH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1010" y="277341"/>
            <a:ext cx="1291420" cy="127919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457200" y="2286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01 — MOTIVATION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65760" y="1188720"/>
            <a:ext cx="2560320" cy="15544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65760" y="1188720"/>
            <a:ext cx="54864" cy="155448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3258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r>
              <a:rPr b="1" lang="en-US" sz="34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19659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of readers cannot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reliably detect AI text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200400" y="1188720"/>
            <a:ext cx="2560320" cy="15544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200400" y="1188720"/>
            <a:ext cx="54864" cy="15544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383280" y="13258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383280" y="19659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cryptographic proof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in existing detectors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035040" y="1188720"/>
            <a:ext cx="2560320" cy="15544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035040" y="1188720"/>
            <a:ext cx="54864" cy="155448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217920" y="13258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1 line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17920" y="19659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of code strips any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steganographic payload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65760" y="2926080"/>
            <a:ext cx="8412480" cy="173736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65760" y="2926080"/>
            <a:ext cx="54864" cy="17373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94360" y="3035808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Why existing approaches fail: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85800" y="333756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Statistical detectors (GPTZero) rely on heuristics — one rewrite fools them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No mathematical proof of authorship — just probabilities, no secret key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Steganographic embedding alone is trivially stripped in one line of code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132320" y="16459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457200" y="2286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02 — BACKGROUND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Related Work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65760" y="1188720"/>
            <a:ext cx="4114800" cy="77724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75488" y="1280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[1]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68680" y="12801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Devlin et al., 2019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68680" y="153619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BERT — made AI text fluent at scale, raising detection stakes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65760" y="2103120"/>
            <a:ext cx="4114800" cy="77724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75488" y="21945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[2]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68680" y="21945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Kirchenbauer et al., 2023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868680" y="245059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Green/red token watermarking — requires LLM access to sign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" y="3017520"/>
            <a:ext cx="4114800" cy="77724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75488" y="3108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[3]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68680" y="31089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Zhao et al., 2023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68680" y="336499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Provably robust watermarking — theoretical evasion bounds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65760" y="3931920"/>
            <a:ext cx="4114800" cy="77724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75488" y="40233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[4]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68680" y="40233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Bellare et al., 1996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68680" y="427939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HMAC — keyed hash auth; our cryptographic foundation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709160" y="1188720"/>
            <a:ext cx="4114800" cy="77724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818888" y="1280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[5]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212080" y="12801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Zhu et al., 2019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212080" y="153619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Deep leakage from gradients — hidden data in embeddings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709160" y="2103120"/>
            <a:ext cx="4114800" cy="77724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818888" y="21945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[6]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212080" y="21945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Athalye et al., 2018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212080" y="245059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Adversarial examples — attack methodology adapted here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709160" y="3017520"/>
            <a:ext cx="4114800" cy="77724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818888" y="3108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[7]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212080" y="31089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Merhav &amp; Sabbag, 2008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212080" y="336499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Optimal watermark embedding under limited resources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132320" y="16459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457200" y="2286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03 — DESIGN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System Architecture — 3 Layers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65760" y="1188720"/>
            <a:ext cx="2651760" cy="228600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65760" y="1188720"/>
            <a:ext cx="2651760" cy="411480"/>
          </a:xfrm>
          <a:prstGeom prst="rect">
            <a:avLst/>
          </a:prstGeom>
          <a:solidFill>
            <a:srgbClr val="00D4FF">
              <a:alpha val="80000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57200" y="121615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0A0E1A"/>
                </a:solidFill>
                <a:latin typeface="Consolas"/>
                <a:ea typeface="Consolas"/>
                <a:cs typeface="Consolas"/>
                <a:sym typeface="Consolas"/>
              </a:rPr>
              <a:t>Layer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57200" y="16916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Document HMAC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57200" y="2103120"/>
            <a:ext cx="2468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HMAC-SHA256 over full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cleaned text → 256-bit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document fingerprint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990088" y="21945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200400" y="1188720"/>
            <a:ext cx="2651760" cy="228600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200400" y="1188720"/>
            <a:ext cx="2651760" cy="411480"/>
          </a:xfrm>
          <a:prstGeom prst="rect">
            <a:avLst/>
          </a:prstGeom>
          <a:solidFill>
            <a:srgbClr val="7C3AED">
              <a:alpha val="80000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291840" y="121615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0A0E1A"/>
                </a:solidFill>
                <a:latin typeface="Consolas"/>
                <a:ea typeface="Consolas"/>
                <a:cs typeface="Consolas"/>
                <a:sym typeface="Consolas"/>
              </a:rPr>
              <a:t>Layer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291840" y="16916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Steganographic Embed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291840" y="2103120"/>
            <a:ext cx="2468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64 bits encoded 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U+200B / U+200C zero-width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chars between words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824728" y="21945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035040" y="1188720"/>
            <a:ext cx="2651760" cy="228600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035040" y="1188720"/>
            <a:ext cx="2651760" cy="411480"/>
          </a:xfrm>
          <a:prstGeom prst="rect">
            <a:avLst/>
          </a:prstGeom>
          <a:solidFill>
            <a:srgbClr val="10B981">
              <a:alpha val="80000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126480" y="121615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0A0E1A"/>
                </a:solidFill>
                <a:latin typeface="Consolas"/>
                <a:ea typeface="Consolas"/>
                <a:cs typeface="Consolas"/>
                <a:sym typeface="Consolas"/>
              </a:rPr>
              <a:t>Layer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126480" y="16916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Sentence + Bigram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126480" y="2103120"/>
            <a:ext cx="2468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Per-sentence HMAC +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sliding bigram signatures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for fine-grained integrity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65760" y="3657600"/>
            <a:ext cx="8412480" cy="123444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65760" y="3657600"/>
            <a:ext cx="54864" cy="12344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94360" y="37307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Composite Confidence Score: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94360" y="400507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F0F6FC"/>
                </a:solidFill>
                <a:latin typeface="Consolas"/>
                <a:ea typeface="Consolas"/>
                <a:cs typeface="Consolas"/>
                <a:sym typeface="Consolas"/>
              </a:rPr>
              <a:t>0.35 × HMAC_exact  +  0.30 × bit_agreement  +  0.20 × sentence_integrity  +  0.15 × Jaccard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94360" y="43159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 HIGH (≥0.85)  ·  DEGRADED (≥0.50)  ·  UNCERTAIN (≥0.20)  ·  NOT WATERMARKED (&lt;0.20)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457200" y="2286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04 — EMBEDDING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How the Invisible Signature Works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65760" y="1188720"/>
            <a:ext cx="2011680" cy="20116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051560" y="1234440"/>
            <a:ext cx="640080" cy="640080"/>
          </a:xfrm>
          <a:prstGeom prst="ellipse">
            <a:avLst/>
          </a:prstGeom>
          <a:solidFill>
            <a:srgbClr val="00D4FF">
              <a:alpha val="85098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051560" y="1234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57200" y="19659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Extract 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57200" y="233172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Read .docx / .txt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strip existing ZW chars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2267712" y="20116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2542032" y="1188720"/>
            <a:ext cx="2011680" cy="20116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227832" y="1234440"/>
            <a:ext cx="640080" cy="640080"/>
          </a:xfrm>
          <a:prstGeom prst="ellipse">
            <a:avLst/>
          </a:prstGeom>
          <a:solidFill>
            <a:srgbClr val="7C3AED">
              <a:alpha val="85098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227832" y="1234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633472" y="19659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Compute HMAC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2633472" y="233172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HMAC-SHA256(key, text)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→ 256-bit hex digest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443984" y="20116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718304" y="1188720"/>
            <a:ext cx="2011680" cy="20116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404104" y="1234440"/>
            <a:ext cx="640080" cy="640080"/>
          </a:xfrm>
          <a:prstGeom prst="ellipse">
            <a:avLst/>
          </a:prstGeom>
          <a:solidFill>
            <a:srgbClr val="F59E0B">
              <a:alpha val="85098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404104" y="1234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809744" y="19659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Encode Bits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809744" y="233172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64 bits: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0→U+200B  1→U+200C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prefix U+2060 sync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620256" y="20116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894576" y="1188720"/>
            <a:ext cx="2011680" cy="20116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7580376" y="1234440"/>
            <a:ext cx="640080" cy="640080"/>
          </a:xfrm>
          <a:prstGeom prst="ellipse">
            <a:avLst/>
          </a:prstGeom>
          <a:solidFill>
            <a:srgbClr val="10B981">
              <a:alpha val="85098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7580376" y="1234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986016" y="19659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Inject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986016" y="233172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One ZW char per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inter-word gap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(invisible to reader)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65760" y="3383280"/>
            <a:ext cx="8412480" cy="150876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65760" y="3383280"/>
            <a:ext cx="54864" cy="15087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94360" y="34747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Visual example — the invisible difference: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94360" y="37490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0F6FC"/>
                </a:solidFill>
                <a:latin typeface="Consolas"/>
                <a:ea typeface="Consolas"/>
                <a:cs typeface="Consolas"/>
                <a:sym typeface="Consolas"/>
              </a:rPr>
              <a:t>"Large language models have demonstrated remarkable capabilities..."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94360" y="40416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"Large[ZW]language[ZW]models[ZW]have[ZW]demonstrated..."   ← 65 invisible chars, looks identical above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94360" y="43708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Any Unicode-aware text diff tool will flag the difference. A human eye never will.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7132320" y="16459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>
            <a:off x="457200" y="2286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05 — ATTACKS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How Verification Works – Four Independent Signals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65760" y="1143000"/>
            <a:ext cx="4114800" cy="173736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65760" y="1143000"/>
            <a:ext cx="54864" cy="17373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657600" y="1234440"/>
            <a:ext cx="68580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657600" y="1234440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w = 0.35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30352" y="12344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E₁  Exact HMAC Match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6"/>
          <p:cNvCxnSpPr/>
          <p:nvPr/>
        </p:nvCxnSpPr>
        <p:spPr>
          <a:xfrm>
            <a:off x="530352" y="1600200"/>
            <a:ext cx="376732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6"/>
          <p:cNvSpPr/>
          <p:nvPr/>
        </p:nvSpPr>
        <p:spPr>
          <a:xfrm>
            <a:off x="530352" y="1664208"/>
            <a:ext cx="3794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Re-compute HMAC-SHA256(K, clean(received))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Compare with HMAC of original using hmac.compare_digest()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30352" y="2441448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Cryptographically strong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Unforgeable without key 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709160" y="1143000"/>
            <a:ext cx="4114800" cy="173736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709160" y="1143000"/>
            <a:ext cx="54864" cy="17373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001000" y="1234440"/>
            <a:ext cx="685800" cy="292608"/>
          </a:xfrm>
          <a:prstGeom prst="rect">
            <a:avLst/>
          </a:prstGeom>
          <a:solidFill>
            <a:srgbClr val="7C3AED">
              <a:alpha val="80000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001000" y="1234440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w = 0.30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873752" y="12344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E₂  Steganographic Bit Agreement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6"/>
          <p:cNvCxnSpPr/>
          <p:nvPr/>
        </p:nvCxnSpPr>
        <p:spPr>
          <a:xfrm>
            <a:off x="4873752" y="1600200"/>
            <a:ext cx="376732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6"/>
          <p:cNvSpPr/>
          <p:nvPr/>
        </p:nvSpPr>
        <p:spPr>
          <a:xfrm>
            <a:off x="4873752" y="1664208"/>
            <a:ext cx="3794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Scan for U+2060 sync marker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Extract all U+200B/U+200C chars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Compare recovered bits to expected payload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873752" y="2441448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Keyless — detectable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without original document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65760" y="3063240"/>
            <a:ext cx="4114800" cy="173736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365760" y="3063240"/>
            <a:ext cx="54864" cy="17373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657600" y="3154680"/>
            <a:ext cx="685800" cy="292608"/>
          </a:xfrm>
          <a:prstGeom prst="rect">
            <a:avLst/>
          </a:prstGeom>
          <a:solidFill>
            <a:srgbClr val="10B981">
              <a:alpha val="80000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3657600" y="3154680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w = 0.20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30352" y="31546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E₃  Sentence Integrity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6"/>
          <p:cNvCxnSpPr/>
          <p:nvPr/>
        </p:nvCxnSpPr>
        <p:spPr>
          <a:xfrm>
            <a:off x="530352" y="3520440"/>
            <a:ext cx="376732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6"/>
          <p:cNvSpPr/>
          <p:nvPr/>
        </p:nvSpPr>
        <p:spPr>
          <a:xfrm>
            <a:off x="530352" y="3584448"/>
            <a:ext cx="3794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Re-compute HMAC over each sentence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in received document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Match against original sentence HMACs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530352" y="4361688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Fine-grained — localizes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which sentences were changed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709160" y="3063240"/>
            <a:ext cx="4114800" cy="173736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709160" y="3063240"/>
            <a:ext cx="54864" cy="17373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8001000" y="3154680"/>
            <a:ext cx="685800" cy="292608"/>
          </a:xfrm>
          <a:prstGeom prst="rect">
            <a:avLst/>
          </a:prstGeom>
          <a:solidFill>
            <a:srgbClr val="F59E0B">
              <a:alpha val="8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001000" y="3154680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w = 0.15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873752" y="31546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E₄  Jaccard Token Similarity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>
            <a:off x="4873752" y="3520440"/>
            <a:ext cx="376732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6"/>
          <p:cNvSpPr/>
          <p:nvPr/>
        </p:nvSpPr>
        <p:spPr>
          <a:xfrm>
            <a:off x="4873752" y="3584448"/>
            <a:ext cx="3794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Build token sets for original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and received text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Jaccard = |A ∩ B| / |A ∪ B|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873752" y="4361688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Semantic fallback —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works even after HMAC fails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/>
          <p:nvPr/>
        </p:nvSpPr>
        <p:spPr>
          <a:xfrm>
            <a:off x="457200" y="2286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06 — ATTACKS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Four Attacks — Design &amp; Results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65760" y="1188720"/>
            <a:ext cx="4114800" cy="169164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365760" y="1188720"/>
            <a:ext cx="54864" cy="16916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30352" y="12801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A1: ZW Strip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611880" y="1280160"/>
            <a:ext cx="731520" cy="237744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3566160" y="1280160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Trivial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30352" y="162763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Remove all U+200B/U+200C/U+2060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7"/>
          <p:cNvCxnSpPr/>
          <p:nvPr/>
        </p:nvCxnSpPr>
        <p:spPr>
          <a:xfrm>
            <a:off x="530352" y="1938528"/>
            <a:ext cx="376732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7"/>
          <p:cNvSpPr/>
          <p:nvPr/>
        </p:nvSpPr>
        <p:spPr>
          <a:xfrm>
            <a:off x="530352" y="202996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Confidence: 0.7000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2560320" y="202996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Semantic: 100%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30352" y="230428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onsolas"/>
              <a:buNone/>
            </a:pPr>
            <a:r>
              <a:rPr i="1" lang="en-US" sz="1000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→ UNCERTAIN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754880" y="1188720"/>
            <a:ext cx="4114800" cy="169164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754880" y="1188720"/>
            <a:ext cx="54864" cy="16916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919472" y="12801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A2: Synonym Sub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8001000" y="1280160"/>
            <a:ext cx="731520" cy="237744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7955280" y="1280160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Low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919472" y="162763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Replace N% words with synonyms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7"/>
          <p:cNvCxnSpPr/>
          <p:nvPr/>
        </p:nvCxnSpPr>
        <p:spPr>
          <a:xfrm>
            <a:off x="4919472" y="1938528"/>
            <a:ext cx="376732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7"/>
          <p:cNvSpPr/>
          <p:nvPr/>
        </p:nvSpPr>
        <p:spPr>
          <a:xfrm>
            <a:off x="4919472" y="202996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Confidence: 0.3316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949440" y="202996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Semantic: 99.4%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919472" y="230428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i="1" lang="en-US" sz="10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→ UNCERTAIN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365760" y="3108960"/>
            <a:ext cx="4114800" cy="169164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65760" y="3108960"/>
            <a:ext cx="54864" cy="16916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30352" y="3200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A3: Truncation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3611880" y="3200400"/>
            <a:ext cx="731520" cy="237744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566160" y="3200400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Low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30352" y="354787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Remove last N% of sentences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7"/>
          <p:cNvCxnSpPr/>
          <p:nvPr/>
        </p:nvCxnSpPr>
        <p:spPr>
          <a:xfrm>
            <a:off x="530352" y="3858768"/>
            <a:ext cx="376732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7"/>
          <p:cNvSpPr/>
          <p:nvPr/>
        </p:nvSpPr>
        <p:spPr>
          <a:xfrm>
            <a:off x="530352" y="395020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Confidence: 0.2722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2560320" y="395020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Semantic: 84.8%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30352" y="422452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i="1" lang="en-US" sz="10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→ UNCERTAIN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754880" y="3108960"/>
            <a:ext cx="4114800" cy="169164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754880" y="3108960"/>
            <a:ext cx="54864" cy="16916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919472" y="3200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A4: Paraphrase Sim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8001000" y="3200400"/>
            <a:ext cx="731520" cy="237744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7955280" y="3200400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Medium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919472" y="354787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Shuffle + substitute + contractions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7"/>
          <p:cNvCxnSpPr/>
          <p:nvPr/>
        </p:nvCxnSpPr>
        <p:spPr>
          <a:xfrm>
            <a:off x="4919472" y="3858768"/>
            <a:ext cx="376732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7"/>
          <p:cNvSpPr/>
          <p:nvPr/>
        </p:nvSpPr>
        <p:spPr>
          <a:xfrm>
            <a:off x="4919472" y="395020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Confidence: 0.3165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6949440" y="395020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Semantic: ~95%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919472" y="422452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onsolas"/>
              <a:buNone/>
            </a:pPr>
            <a:r>
              <a:rPr i="1" lang="en-US" sz="100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→ UNCERTAIN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/>
          <p:nvPr/>
        </p:nvSpPr>
        <p:spPr>
          <a:xfrm>
            <a:off x="457200" y="22860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07 — EXPERIMENTAL SETUP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365760" y="1143000"/>
            <a:ext cx="4114800" cy="356616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65760" y="1143000"/>
            <a:ext cx="54864" cy="35661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594360" y="1234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Test Corpus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594360" y="1572768"/>
            <a:ext cx="365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5 AI-generated text samples across diverse CS topics: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NLP and language modeling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Cryptography and HMAC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Federated learning + privacy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Transformer architectures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Steganography and watermarking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594360" y="3337560"/>
            <a:ext cx="841248" cy="8686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594360" y="3383280"/>
            <a:ext cx="841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2,084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94360" y="3794760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Words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1554480" y="3337560"/>
            <a:ext cx="841248" cy="8686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1554480" y="3383280"/>
            <a:ext cx="841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57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1554480" y="3794760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Sentences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2514600" y="3337560"/>
            <a:ext cx="841248" cy="8686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2514600" y="3383280"/>
            <a:ext cx="841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.docx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2514600" y="3794760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File type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3474720" y="3337560"/>
            <a:ext cx="841248" cy="8686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3474720" y="3383280"/>
            <a:ext cx="841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3474720" y="3794760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Embed bits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94360" y="431596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Primary evaluation file: ‘EDBG.docx'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4663440" y="1143000"/>
            <a:ext cx="4114800" cy="356616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663440" y="1143000"/>
            <a:ext cx="54864" cy="35661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892040" y="1234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Attack Parameters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892040" y="1627632"/>
            <a:ext cx="3749040" cy="621792"/>
          </a:xfrm>
          <a:prstGeom prst="rect">
            <a:avLst/>
          </a:prstGeom>
          <a:solidFill>
            <a:srgbClr val="0D15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892040" y="1627632"/>
            <a:ext cx="54864" cy="62179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5074920" y="1682496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ZW Strip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5074920" y="193852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100% (binary)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892040" y="2377440"/>
            <a:ext cx="3749040" cy="621792"/>
          </a:xfrm>
          <a:prstGeom prst="rect">
            <a:avLst/>
          </a:prstGeom>
          <a:solidFill>
            <a:srgbClr val="0D15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892040" y="2377440"/>
            <a:ext cx="54864" cy="62179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5074920" y="2432304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Substitution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074920" y="268833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r ∈ {5, 10, 20, 30, 50, 70, 100}%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892040" y="3127248"/>
            <a:ext cx="3749040" cy="621792"/>
          </a:xfrm>
          <a:prstGeom prst="rect">
            <a:avLst/>
          </a:prstGeom>
          <a:solidFill>
            <a:srgbClr val="0D15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892040" y="3127248"/>
            <a:ext cx="54864" cy="6217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5074920" y="318211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Truncation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5074920" y="3438144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r ∈ {10, 20, 30, 40, 50, 60, 70}%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892040" y="3877056"/>
            <a:ext cx="3749040" cy="621792"/>
          </a:xfrm>
          <a:prstGeom prst="rect">
            <a:avLst/>
          </a:prstGeom>
          <a:solidFill>
            <a:srgbClr val="0D152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892040" y="3877056"/>
            <a:ext cx="54864" cy="62179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5074920" y="393192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Paraphrase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074920" y="418795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r ∈ {10, 20, 30, 40, 50, 60}%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718304" y="4463288"/>
            <a:ext cx="4059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Semantic preservation measured via Jaccard token similarity  ·  Python 3.12, Windows 11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/>
          <p:nvPr/>
        </p:nvSpPr>
        <p:spPr>
          <a:xfrm>
            <a:off x="457200" y="2286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08 — RESULTS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Experimental Results Summary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9"/>
          <p:cNvGraphicFramePr/>
          <p:nvPr/>
        </p:nvGraphicFramePr>
        <p:xfrm>
          <a:off x="36576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{13AE0FBE-23B1-4292-94FC-1C0EC8281042}</a:tableStyleId>
              </a:tblPr>
              <a:tblGrid>
                <a:gridCol w="1554475"/>
                <a:gridCol w="1005850"/>
                <a:gridCol w="1188725"/>
                <a:gridCol w="1097275"/>
                <a:gridCol w="1188725"/>
                <a:gridCol w="182880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6F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0F6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Attack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6F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0F6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Intensity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6F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0F6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Confidence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6F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0F6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Stego Bits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6F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0F6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Sentences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6F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0F6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Verdict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6F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0F6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 (baseline)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2A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8892A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64/64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57/57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✅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6F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0F6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ZW Strip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2A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8892A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0/64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57/57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DEGRADED ⚠️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E2E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6F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0F6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Substitution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2A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8892A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0.3316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0/64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52/57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UNCERTAIN 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6F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0F6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Truncation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2A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8892A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0.2722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0/64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~40/57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UNCERTAIN 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E2E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6F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0F6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Paraphrase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92A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8892A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0.3165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0/64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~43/57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UNCERTAIN 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A"/>
                    </a:solidFill>
                  </a:tcPr>
                </a:tc>
              </a:tr>
            </a:tbl>
          </a:graphicData>
        </a:graphic>
      </p:graphicFrame>
      <p:sp>
        <p:nvSpPr>
          <p:cNvPr id="298" name="Google Shape;298;p9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365760" y="4434840"/>
            <a:ext cx="54864" cy="502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594360" y="4480560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Takeaway: Steganography is fragile but detectable. HMAC is robust but needs the original. Combined, they create a two-signal attribution system.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"/>
          <p:cNvSpPr/>
          <p:nvPr/>
        </p:nvSpPr>
        <p:spPr>
          <a:xfrm>
            <a:off x="457200" y="22860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08 — SECURITY BOUNDARY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Key Cracking — Where the Security Boundary Lies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365760" y="1143000"/>
            <a:ext cx="5120640" cy="182880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365760" y="1143000"/>
            <a:ext cx="54864" cy="18288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594360" y="121615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How the Crack Attack Works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594360" y="1536192"/>
            <a:ext cx="475488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Adversary has: the watermarked document + the original document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Adversary has: a list of candidate keys (wordlist, guesses, or leaked keys)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For each candidate key: compute HMAC and compare — exact match = key found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Complexity: O(n) in keylist size — purely a key management problem, not a crypto break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5669280" y="1143000"/>
            <a:ext cx="3108960" cy="182880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5669280" y="1143000"/>
            <a:ext cx="54864" cy="18288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5897880" y="121615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Demo Result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5897880" y="157276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KEY FOUND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5897880" y="20574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F0F6FC"/>
                </a:solidFill>
                <a:latin typeface="Consolas"/>
                <a:ea typeface="Consolas"/>
                <a:cs typeface="Consolas"/>
                <a:sym typeface="Consolas"/>
              </a:rPr>
              <a:t>'Gimme some sunshine.'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5897880" y="239572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Confidence: 0.8547  ·  4 keys tested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365760" y="3154680"/>
            <a:ext cx="8412480" cy="91440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365760" y="3154680"/>
            <a:ext cx="54864" cy="9144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594360" y="32278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⚠️  Security Implication: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594360" y="352044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HMAC-SHA256 is computationally unbreakable — but it is only as strong as the secret key. A guessable or leaked key means the adversary can verify AND forge signatures. This is not a flaw in the cryptography — it is a key management problem.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365760" y="4251960"/>
            <a:ext cx="4114800" cy="68580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365760" y="4251960"/>
            <a:ext cx="54864" cy="6858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594360" y="42976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Safe Key Practices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594360" y="45445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Long random passphrase (20+ chars)  ·  Never reuse keys across documents  ·  Store in a password manager or KMS  ·  Rotate keys periodically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4709160" y="4251960"/>
            <a:ext cx="4114800" cy="68580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4709160" y="4251960"/>
            <a:ext cx="54864" cy="6858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4937760" y="42976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Unsafe Key Practices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4937760" y="45445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Short dictionary words  ·  Lyrics, quotes, or phrases  ·  Shared keys across users  ·  Keys stored in plaintext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"/>
          <p:cNvSpPr/>
          <p:nvPr/>
        </p:nvSpPr>
        <p:spPr>
          <a:xfrm>
            <a:off x="457200" y="22860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08 — ANALYSIS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Confidence Decay &amp; Privacy-Utility Tradeoff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9" name="Google Shape;339;p11"/>
          <p:cNvGraphicFramePr/>
          <p:nvPr/>
        </p:nvGraphicFramePr>
        <p:xfrm>
          <a:off x="365760" y="1097280"/>
          <a:ext cx="5303520" cy="356616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340" name="Google Shape;340;p11"/>
          <p:cNvGraphicFramePr/>
          <p:nvPr/>
        </p:nvGraphicFramePr>
        <p:xfrm>
          <a:off x="5943600" y="1097280"/>
          <a:ext cx="2926080" cy="356616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341" name="Google Shape;341;p11"/>
          <p:cNvSpPr/>
          <p:nvPr/>
        </p:nvSpPr>
        <p:spPr>
          <a:xfrm>
            <a:off x="365760" y="4773168"/>
            <a:ext cx="8412480" cy="18288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457200" y="4791456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All attacks maintain &gt;84% semantic similarity while reducing confidence below 0.35 — confirming they are realistic adversarial scenarios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"/>
          <p:cNvSpPr/>
          <p:nvPr/>
        </p:nvSpPr>
        <p:spPr>
          <a:xfrm>
            <a:off x="457200" y="22860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10 — REAL-WORLD APPLICATION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Practical Deployment — Two Operating Modes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365760" y="1143000"/>
            <a:ext cx="4114800" cy="320040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365760" y="1143000"/>
            <a:ext cx="54864" cy="32004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365760" y="1143000"/>
            <a:ext cx="4114800" cy="411480"/>
          </a:xfrm>
          <a:prstGeom prst="rect">
            <a:avLst/>
          </a:prstGeom>
          <a:solidFill>
            <a:srgbClr val="00D4FF">
              <a:alpha val="80000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57200" y="117043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Mode 1 — Public Detection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548640" y="1645920"/>
            <a:ext cx="3749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Who uses it: Anyone — institutions, publishers, instructors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What they need: The suspicious document only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How: Scan for U+2060 sync marker + count bit characters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Output: YES a watermark payload is present / NO it is not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Limitation: Cannot verify authenticity — only detects presence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365760" y="4041648"/>
            <a:ext cx="4114800" cy="2286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365760" y="4050792"/>
            <a:ext cx="4114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No key required  ·  No original document required  ·  Instant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663440" y="1143000"/>
            <a:ext cx="4114800" cy="320040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4663440" y="1143000"/>
            <a:ext cx="54864" cy="32004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4663440" y="1143000"/>
            <a:ext cx="4114800" cy="411480"/>
          </a:xfrm>
          <a:prstGeom prst="rect">
            <a:avLst/>
          </a:prstGeom>
          <a:solidFill>
            <a:srgbClr val="10B981">
              <a:alpha val="80000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4754880" y="117043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Mode 2 — Authenticated Attribution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4846320" y="1645920"/>
            <a:ext cx="3749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Who uses it: Document owner with the secret key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What they need: Received document + original + secret key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How: Full 4-layer HMAC + stego + sentence + Jaccard check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Output: Confidence score 0–1 + per-layer breakdown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Use case: Legal dispute, academic integrity investigation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4663440" y="4041648"/>
            <a:ext cx="4114800" cy="2286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4663440" y="4050792"/>
            <a:ext cx="4114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Requires key  ·  Requires original  ·  Cryptographically provable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365760" y="4480560"/>
            <a:ext cx="54864" cy="457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411480" y="45262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The two modes serve different trust levels — detection for anyone, proof for the key holder. This separation is the practical value of combining stego with HMAC.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"/>
          <p:cNvSpPr/>
          <p:nvPr/>
        </p:nvSpPr>
        <p:spPr>
          <a:xfrm>
            <a:off x="457200" y="2286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10 — ANALYSIS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Findings &amp; Limitations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365760" y="1143000"/>
            <a:ext cx="4114800" cy="365760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365760" y="1143000"/>
            <a:ext cx="54864" cy="36576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594360" y="12344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 Key Findings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594360" y="1600200"/>
            <a:ext cx="3657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Perfect baseline integrity — 1.0000 confidence, 64/64 bits, 57/57 sentences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HMAC survives ZW strip — content attribution remains even after steganography is destroyed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Confidence degrades gracefully — ~0.30 under content attacks allows partial attribution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Key crack confirmed — brute-force finds signing key at 0.8547 confidence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Works on real .docx files — 2,084 words, 57 sentences processed correctly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4663440" y="1143000"/>
            <a:ext cx="4114800" cy="365760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4663440" y="1143000"/>
            <a:ext cx="54864" cy="36576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4892040" y="12344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⚠️  Limitations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4892040" y="1600200"/>
            <a:ext cx="3657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Steganographic channel is fragile — Unicode normalization or copy-paste may strip ZW chars silently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HMAC provides integrity but not non-repudiation — anyone with the key can sign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Semantic similarity uses Jaccard (lexical) — sentence-transformer embeddings would be stronger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Paraphrase attack is simulated offline — real LLM paraphrase would be more damaging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Offline synonym dictionary is limited — larger vocabulary would increase attack effectiveness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4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548640" y="2286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lang="en-US" sz="800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11 — CONCLUSION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457200" y="1143000"/>
            <a:ext cx="8321040" cy="146304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685800" y="121615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What We Built &amp; Proved: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685800" y="150876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A working CLI system that signs any .docx/.txt with a secret key, embeds 64 invisible bits, and verifies across 4 cryptographic layers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Steganography alone is not enough — HMAC integrity is what makes attribution cryptographically meaningful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0F6F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Four attacks evaluated — ZW strip is trivial but HMAC survives; content attacks cost semantic meaning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457200" y="2788920"/>
            <a:ext cx="1965960" cy="173736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457200" y="2788920"/>
            <a:ext cx="1965960" cy="347472"/>
          </a:xfrm>
          <a:prstGeom prst="rect">
            <a:avLst/>
          </a:prstGeom>
          <a:solidFill>
            <a:srgbClr val="7C3AED">
              <a:alpha val="74901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457200" y="278892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Fuzzy Hashing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548640" y="3218688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ssdeep/tlsh for near-duplicate robustness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2587752" y="2788920"/>
            <a:ext cx="1965960" cy="173736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2587752" y="2788920"/>
            <a:ext cx="1965960" cy="347472"/>
          </a:xfrm>
          <a:prstGeom prst="rect">
            <a:avLst/>
          </a:prstGeom>
          <a:solidFill>
            <a:srgbClr val="00D4FF">
              <a:alpha val="74901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2587752" y="278892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LLM Paraphrase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2679192" y="3218688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Real Claude/GPT-4 paraphrase attack eval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4718304" y="2788920"/>
            <a:ext cx="1965960" cy="173736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4718304" y="2788920"/>
            <a:ext cx="1965960" cy="347472"/>
          </a:xfrm>
          <a:prstGeom prst="rect">
            <a:avLst/>
          </a:prstGeom>
          <a:solidFill>
            <a:srgbClr val="10B981">
              <a:alpha val="74901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4718304" y="278892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Semantic Embed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4809744" y="3218688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Sentence-transformer cosine vs. Jaccard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6848856" y="2788920"/>
            <a:ext cx="1965960" cy="1737360"/>
          </a:xfrm>
          <a:prstGeom prst="rect">
            <a:avLst/>
          </a:prstGeom>
          <a:solidFill>
            <a:srgbClr val="1E2A3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6848856" y="2788920"/>
            <a:ext cx="1965960" cy="347472"/>
          </a:xfrm>
          <a:prstGeom prst="rect">
            <a:avLst/>
          </a:prstGeom>
          <a:solidFill>
            <a:srgbClr val="F59E0B">
              <a:alpha val="74901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6848856" y="278892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RSA Signatures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6940296" y="3218688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Non-repudiation beyond HMAC authentication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457200" y="47091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Thank you  ·  Questions?  ·  github / demo available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2026-03-16T17:37:20Z</dcterms:created>
  <dc:creator>PptxGenJS</dc:creator>
</cp:coreProperties>
</file>